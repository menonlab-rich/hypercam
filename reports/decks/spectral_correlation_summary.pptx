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summary: the initial 87% green-red similarity was an artifact of shared scene geometry on the LCD target. After spatial filtering the correlation drops to 0.67. A sweep across frame rates (10 to 10,000 FPS) and recording lengths reveals that frame rate does not buy differentiation — scene time does (requiring ~1 to 2 seconds). The measurement floor is established at &gt;=5 accumulated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is an LCD monitor displaying a blinking circle in pure primary colors. Event cameras respond to temporal contrast (the blink transitions). Recordings capture 5 seconds of active blinking per color.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Pearson correlation is variance-weighted, the large shared circle dominates the raw calculation. Breaking the images into spatial-frequency bands proves that the coarse envelope correlates at 0.99 while the fine interior texture correlates at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refined methodology strips away the shared background and coarse circle envelope, leaving only the mid-band and fine texture where optical or display-specific patterns can be evaluated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Filtering flattens the correlation matrix substantially. Green-red remains the most similar pair at 0.67, which prompts the investigation into what shared structure remains.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the target is an LCD monitor clarifies the residual correlation: the physical subpixel geometry and shared backlight impose spatial and temporal structure common to all recordings. The LCD target is a functional test scene, not a narrowband calibration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 for system design: increasing effective frame rate does not improve spectral differentiation. The event statistics require ~1 to 2 seconds of scene time to accumulate sufficient signal. High frame rates are viable without penalty, but exposure duration cannot be compressed below ~1 second for this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Quantifying the frame cutoff: 10 frames was our initial conservative setting. Testing down to 5 frames shows identical trend reproduction (within 0.08 across all cells). Testing down to 1 frame reveals severe breakdown: deviations up to 0.35 and flat rows where the duration axis loses physical meaning. 5 frames is the solid operational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definitive conclusions for project leadership: 1) Artifact diagnosed and resolved. 2) Residual correlation understood through LCD physics. 3) 80% threshold does not bind. 4) System trade-off identified: scene time matters, frame rate is flexible. 5) Concrete operational parameters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Recommendations: 1) Measure the noise ceiling directly with split-half validation. 2) The temporal domain (transition dynamics) offers stronger color discrimination than static spatial correlation for LCD targets. 3) Narrowband sources remain the path to true spectral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Wavelength Pattern Correlation in EVT3 Event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DD7EE"/>
                </a:solidFill>
              </a:rPr>
              <a:t>Separating measurement artifact from spectral signal on the LCD calibration scene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EA9DB"/>
                </a:solidFill>
              </a:rPr>
              <a:t>Hypercam spectral correlation · summary for stakeholders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Experimental setup and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•  Sensor:  </a:t>
            </a:r>
            <a:r>
              <a:rPr sz="1700" b="0">
                <a:solidFill>
                  <a:srgbClr val="333333"/>
                </a:solidFill>
              </a:rPr>
              <a:t>Prophesee EVT3 neuromorphic event sensor (720 × 1280 resolution)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•  Calibration target:  </a:t>
            </a:r>
            <a:r>
              <a:rPr sz="1700" b="0">
                <a:solidFill>
                  <a:srgbClr val="333333"/>
                </a:solidFill>
              </a:rPr>
              <a:t>Blinking circle displayed on an LCD monitor, captured one color at a time (green, red, blue)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•  Data volume:  </a:t>
            </a:r>
            <a:r>
              <a:rPr sz="1700" b="0">
                <a:solidFill>
                  <a:srgbClr val="333333"/>
                </a:solidFill>
              </a:rPr>
              <a:t>5 seconds per color; 5.3 to 7.6 million events per recording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•  Activity frames:  </a:t>
            </a:r>
            <a:r>
              <a:rPr sz="1700" b="0">
                <a:solidFill>
                  <a:srgbClr val="333333"/>
                </a:solidFill>
              </a:rPr>
              <a:t>10 ms accumulation windows, log-transformed, averaged across 500 frames per color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•  Metric:  </a:t>
            </a:r>
            <a:r>
              <a:rPr sz="1700" b="0">
                <a:solidFill>
                  <a:srgbClr val="333333"/>
                </a:solidFill>
              </a:rPr>
              <a:t>Pairwise Pearson correlation coefficient (r) between spatial activity patterns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•  Objective:  </a:t>
            </a:r>
            <a:r>
              <a:rPr sz="1700" b="0">
                <a:solidFill>
                  <a:srgbClr val="333333"/>
                </a:solidFill>
              </a:rPr>
              <a:t>Determine whether differing display wavelengths produce measurably distinct spatial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Diagnosis: the 87% similarity was scene geometry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ree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5029200" cy="2828925"/>
          </a:xfrm>
          <a:prstGeom prst="rect">
            <a:avLst/>
          </a:prstGeom>
        </p:spPr>
      </p:pic>
      <p:pic>
        <p:nvPicPr>
          <p:cNvPr id="5" name="Picture 4" descr="red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029200" cy="2828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06336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</a:rPr>
              <a:t>green — raw averaged activity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06336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</a:rPr>
              <a:t>red — raw averaged activity 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3484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Shared geometry:  </a:t>
            </a:r>
            <a:r>
              <a:rPr sz="1400" b="0">
                <a:solidFill>
                  <a:srgbClr val="333333"/>
                </a:solidFill>
              </a:rPr>
              <a:t>Bright circle in the same pixel location + diffuse sensor background → coarse pattern r ≈ 0.99 for all pairs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Unshared fine detail:  </a:t>
            </a:r>
            <a:r>
              <a:rPr sz="1400" b="0">
                <a:solidFill>
                  <a:srgbClr val="333333"/>
                </a:solidFill>
              </a:rPr>
              <a:t>Interior texture correlates near r ≈ 0.0 across all color pairs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Why blue scored lower (0.60):  </a:t>
            </a:r>
            <a:r>
              <a:rPr sz="1400" b="0">
                <a:solidFill>
                  <a:srgbClr val="333333"/>
                </a:solidFill>
              </a:rPr>
              <a:t>Silicon sensitivity is lower at blue wavelengths (~3.7× dimmer disc), softening its coarse agreement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Takeaway:  </a:t>
            </a:r>
            <a:r>
              <a:rPr sz="1400" b="0">
                <a:solidFill>
                  <a:srgbClr val="333333"/>
                </a:solidFill>
              </a:rPr>
              <a:t>The raw 0.87 measured 'same circle in the same spot,' not optical or spectral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Refined analysis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223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1.  Signal cropping:  </a:t>
            </a:r>
            <a:r>
              <a:rPr sz="1700" b="0">
                <a:solidFill>
                  <a:srgbClr val="333333"/>
                </a:solidFill>
              </a:rPr>
              <a:t>Isolates the 288 × 288 px active region, removing ~91% of inactive sensor background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2.  Spatial high-pass filter:  </a:t>
            </a:r>
            <a:r>
              <a:rPr sz="1700" b="0">
                <a:solidFill>
                  <a:srgbClr val="333333"/>
                </a:solidFill>
              </a:rPr>
              <a:t>Removes broad illumination envelope (&gt;64 px), retaining mid-band spatial texture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3.  Support-masked correlation:  </a:t>
            </a:r>
            <a:r>
              <a:rPr sz="1700" b="0">
                <a:solidFill>
                  <a:srgbClr val="333333"/>
                </a:solidFill>
              </a:rPr>
              <a:t>Evaluates only pixels active in either recording, preventing shared empty pixels from inflating agreement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4.  Meaningful labeling:  </a:t>
            </a:r>
            <a:r>
              <a:rPr sz="1700" b="0">
                <a:solidFill>
                  <a:srgbClr val="333333"/>
                </a:solidFill>
              </a:rPr>
              <a:t>Recordings tracked by color name (green / red / blue) rather than arbitrary numeric identifiers</a:t>
            </a:r>
          </a:p>
        </p:txBody>
      </p:sp>
      <p:pic>
        <p:nvPicPr>
          <p:cNvPr id="5" name="Picture 4" descr="green_proces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600200"/>
            <a:ext cx="301752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46908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</a:rPr>
              <a:t>green after crop + high-pass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Results: before and after spatial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530352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Color pair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Raw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</a:rPr>
                        <a:t>Filtered</a:t>
                      </a:r>
                    </a:p>
                  </a:txBody>
                  <a:tcPr anchor="ctr" marL="109728" marR="109728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333333"/>
                          </a:solidFill>
                        </a:rPr>
                        <a:t>green ↔ red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333"/>
                          </a:solidFill>
                        </a:rPr>
                        <a:t>0.869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333333"/>
                          </a:solidFill>
                        </a:rPr>
                        <a:t>0.669</a:t>
                      </a:r>
                    </a:p>
                  </a:txBody>
                  <a:tcPr anchor="ctr" marL="109728" marR="109728">
                    <a:solidFill>
                      <a:srgbClr val="DDEB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blue ↔ green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0.596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0.539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333333"/>
                          </a:solidFill>
                        </a:rPr>
                        <a:t>blue ↔ red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0.620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0.576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</a:rPr>
              <a:t>Raw: full-frame.  Filtered: cropped, 64 px high-pass, support-masked.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6035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Geometry inflation eliminated:  </a:t>
            </a:r>
            <a:r>
              <a:rPr sz="1400" b="0">
                <a:solidFill>
                  <a:srgbClr val="333333"/>
                </a:solidFill>
              </a:rPr>
              <a:t>The spurious 0.87 correlation drops to 0.67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Blue pairs stabilize:  </a:t>
            </a:r>
            <a:r>
              <a:rPr sz="1400" b="0">
                <a:solidFill>
                  <a:srgbClr val="333333"/>
                </a:solidFill>
              </a:rPr>
              <a:t>Blue pairs show modest change (0.60 → 0.54, 0.62 → 0.58) because the high-pass removes the photometric brightness gap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Narrower spread:  </a:t>
            </a:r>
            <a:r>
              <a:rPr sz="1400" b="0">
                <a:solidFill>
                  <a:srgbClr val="333333"/>
                </a:solidFill>
              </a:rPr>
              <a:t>All pairs now fall within 0.54 to 0.67, representing shared mid-band structure rather than scene geometry</a:t>
            </a:r>
          </a:p>
        </p:txBody>
      </p:sp>
      <p:pic>
        <p:nvPicPr>
          <p:cNvPr id="7" name="Picture 6" descr="heatmap_for_sli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25880"/>
            <a:ext cx="4297680" cy="382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Interpreting the remaining 0.67 correlation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LCD subpixel grid:  </a:t>
            </a:r>
            <a:r>
              <a:rPr sz="1600" b="0">
                <a:solidFill>
                  <a:srgbClr val="333333"/>
                </a:solidFill>
              </a:rPr>
              <a:t>Monitors use fixed vertical subpixel stripes (R-G-B) at fixed screen coordinates. Camera blur couples this grid into a shared spatial pattern regardless of active color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Common backlight modulation:  </a:t>
            </a:r>
            <a:r>
              <a:rPr sz="1600" b="0">
                <a:solidFill>
                  <a:srgbClr val="333333"/>
                </a:solidFill>
              </a:rPr>
              <a:t>LCD backlights use global pulse-width modulation (PWM), imposing identical temporal modulation across all displayed colors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Broadband primary spectra:  </a:t>
            </a:r>
            <a:r>
              <a:rPr sz="1600" b="0">
                <a:solidFill>
                  <a:srgbClr val="333333"/>
                </a:solidFill>
              </a:rPr>
              <a:t>LCD color filters have broad, overlapping spectral profiles (~50–80 nm FWHM), unlike narrowband lasers or LEDs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Setup alignment:  </a:t>
            </a:r>
            <a:r>
              <a:rPr sz="1600" b="0">
                <a:solidFill>
                  <a:srgbClr val="333333"/>
                </a:solidFill>
              </a:rPr>
              <a:t>Small centroid offsets (20–60 px) between captures reflect physical camera/monitor positioning, not wavelength dispersion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Validated reference:  </a:t>
            </a:r>
            <a:r>
              <a:rPr sz="1600" b="0">
                <a:solidFill>
                  <a:srgbClr val="333333"/>
                </a:solidFill>
              </a:rPr>
              <a:t>Narrowband laser scans on this sensor demonstrate genuine spectral separation (e.g., 525 vs 625 nm correlates at 0.41)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Frame rate vs recording length: what drives differentiation?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uration_accumulation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6583680" cy="4120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1417320"/>
            <a:ext cx="4389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80% threshold is never reached:  </a:t>
            </a:r>
            <a:r>
              <a:rPr sz="1400" b="0">
                <a:solidFill>
                  <a:srgbClr val="333333"/>
                </a:solidFill>
              </a:rPr>
              <a:t>Across 120 tested combinations (10 to 10,000 FPS, 1 ms to 5 s duration), maximum correlation is 0.62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Frame rate does not buy differentiation:  </a:t>
            </a:r>
            <a:r>
              <a:rPr sz="1400" b="0">
                <a:solidFill>
                  <a:srgbClr val="333333"/>
                </a:solidFill>
              </a:rPr>
              <a:t>At any given duration, columns from 10 FPS (100 ms) to 10,000 FPS (0.1 ms) yield nearly identical correlation values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Scene time is what matters:  </a:t>
            </a:r>
            <a:r>
              <a:rPr sz="1400" b="0">
                <a:solidFill>
                  <a:srgbClr val="333333"/>
                </a:solidFill>
              </a:rPr>
              <a:t>Cross-color correlation requires ~1 to 2 seconds of exposure to stabilize and differentiate pairs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Ultra-short durations (&lt;25 ms):  </a:t>
            </a:r>
            <a:r>
              <a:rPr sz="1400" b="0">
                <a:solidFill>
                  <a:srgbClr val="333333"/>
                </a:solidFill>
              </a:rPr>
              <a:t>Frames are sparse, uncorrelated event spikes — Pearson correlation reads negative (~ −0.99) due to disjoint event patterns, not physical anticorrelation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Measurement floor: how few frames can we average?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uration_accumulation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3611880" cy="2260697"/>
          </a:xfrm>
          <a:prstGeom prst="rect">
            <a:avLst/>
          </a:prstGeom>
        </p:spPr>
      </p:pic>
      <p:pic>
        <p:nvPicPr>
          <p:cNvPr id="5" name="Picture 4" descr="duration_accumulation_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392" y="1143000"/>
            <a:ext cx="3611880" cy="2261351"/>
          </a:xfrm>
          <a:prstGeom prst="rect">
            <a:avLst/>
          </a:prstGeom>
        </p:spPr>
      </p:pic>
      <p:pic>
        <p:nvPicPr>
          <p:cNvPr id="6" name="Picture 5" descr="duration_accumulation_sw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4" y="1143000"/>
            <a:ext cx="3611880" cy="22613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416052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</a:rPr>
              <a:t>10-frame cutoff (conservative)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79392" y="416052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</a:rPr>
              <a:t>5-frame cutoff (operational floor)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864" y="4160520"/>
            <a:ext cx="3611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7F7F"/>
                </a:solidFill>
              </a:rPr>
              <a:t>1-frame cutoff (breakdown regime)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526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5 frames is the true empirical floor:  </a:t>
            </a:r>
            <a:r>
              <a:rPr sz="1400" b="0">
                <a:solidFill>
                  <a:srgbClr val="333333"/>
                </a:solidFill>
              </a:rPr>
              <a:t>Every 5-frame cell reproduces the converged multi-frame value within 0.08 — no loss of measurement fidelity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1 to 2 frames breakdown:  </a:t>
            </a:r>
            <a:r>
              <a:rPr sz="1400" b="0">
                <a:solidFill>
                  <a:srgbClr val="333333"/>
                </a:solidFill>
              </a:rPr>
              <a:t>Values deviate by up to ±0.35 from converged readings; single-frame rows become flat (correlation is set solely by accumulation interval, duration axis is meaningless)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333333"/>
                </a:solidFill>
              </a:rPr>
              <a:t>•  Operating rule:  </a:t>
            </a:r>
            <a:r>
              <a:rPr sz="1400" b="0">
                <a:solidFill>
                  <a:srgbClr val="333333"/>
                </a:solidFill>
              </a:rPr>
              <a:t>Require ≥5 accumulated frames for any measurement. Higher counts (10+) add safety margin but do not change the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Executive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1. The 87% similarity was an artifact:  </a:t>
            </a:r>
            <a:r>
              <a:rPr sz="1600" b="0">
                <a:solidFill>
                  <a:srgbClr val="333333"/>
                </a:solidFill>
              </a:rPr>
              <a:t>Full-frame correlation was dominated by scene geometry (shared circle + sensor fog), not wavelength-dependent optics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2. Filtered correlation is 0.67, driven by LCD hardware:  </a:t>
            </a:r>
            <a:r>
              <a:rPr sz="1600" b="0">
                <a:solidFill>
                  <a:srgbClr val="333333"/>
                </a:solidFill>
              </a:rPr>
              <a:t>Spatial filtering removes geometry; residual 0.67 is explained by the display's physical subpixel grid and shared backlight PWM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3. 80% cross-color similarity is never reached:  </a:t>
            </a:r>
            <a:r>
              <a:rPr sz="1600" b="0">
                <a:solidFill>
                  <a:srgbClr val="333333"/>
                </a:solidFill>
              </a:rPr>
              <a:t>Across 120 tested parameter combinations, correlation tops out at 0.62 — '80% similarity' does not occur in this optical configuration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4. Frame rate does not buy differentiation:  </a:t>
            </a:r>
            <a:r>
              <a:rPr sz="1600" b="0">
                <a:solidFill>
                  <a:srgbClr val="333333"/>
                </a:solidFill>
              </a:rPr>
              <a:t>10 FPS to 10,000 FPS yield nearly identical correlation values; spectral differentiation requires ~1 to 2 seconds of scene exposure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33333"/>
                </a:solidFill>
              </a:rPr>
              <a:t>•  5. Clear operational envelope:  </a:t>
            </a:r>
            <a:r>
              <a:rPr sz="1600" b="0">
                <a:solidFill>
                  <a:srgbClr val="333333"/>
                </a:solidFill>
              </a:rPr>
              <a:t>Valid measurements require ≥5 accumulated frames and ≥1–2 s scene time. Effective frame rate (10 to 1,000+ FPS) is an unconstrained engineering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3864"/>
                </a:solidFill>
              </a:rPr>
              <a:t>Recommendations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103120" cy="4445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109728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1.  Split-half reliability control:  </a:t>
            </a:r>
            <a:r>
              <a:rPr sz="1700" b="0">
                <a:solidFill>
                  <a:srgbClr val="333333"/>
                </a:solidFill>
              </a:rPr>
              <a:t>Correlate the first and second halves of each recording against itself to establish the experimental noise ceiling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2.  Exploit temporal dynamics:  </a:t>
            </a:r>
            <a:r>
              <a:rPr sz="1700" b="0">
                <a:solidFill>
                  <a:srgbClr val="333333"/>
                </a:solidFill>
              </a:rPr>
              <a:t>Use LCD pixel transition profiles (rise/fall response curves differ by color primary) rather than purely spatial pattern correlation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3.  Characterize subpixel contribution:  </a:t>
            </a:r>
            <a:r>
              <a:rPr sz="1700" b="0">
                <a:solidFill>
                  <a:srgbClr val="333333"/>
                </a:solidFill>
              </a:rPr>
              <a:t>Shift target position on screen to decouple display subpixel grid from sensor pixel grid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4.  Transition to narrowband targets:  </a:t>
            </a:r>
            <a:r>
              <a:rPr sz="1700" b="0">
                <a:solidFill>
                  <a:srgbClr val="333333"/>
                </a:solidFill>
              </a:rPr>
              <a:t>Use calibrated spectral sources (lasers / filtered LEDs) where optical dispersion is the primary physical mechanism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333333"/>
                </a:solidFill>
              </a:rPr>
              <a:t>5.  Adopt operating envelope:  </a:t>
            </a:r>
            <a:r>
              <a:rPr sz="1700" b="0">
                <a:solidFill>
                  <a:srgbClr val="333333"/>
                </a:solidFill>
              </a:rPr>
              <a:t>Standardize capture duration at ≥2 seconds; select frame rate based on downstream processing needs (10 to 1,000+ FPS)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</a:rPr>
              <a:t>Hypercam spectral correlation · September 2026   ·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Hypercam spectral correlation — results and next steps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
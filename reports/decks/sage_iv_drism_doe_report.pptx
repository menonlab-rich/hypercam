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7CD886-D2E0-478F-B67D-D8E06EDBDB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4801E7-15BE-4261-B8B6-AFFBF5CB9E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17A75C-687F-4C6A-932B-2550D802C4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E6E9EB-5094-4117-B55C-C82DD786A1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91580D-2267-4F6F-AA8F-AF32A598C6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B52772-58B9-45D0-A340-D5458311FD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3C72CE-6685-4DB7-A626-BD14555F01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D7603B-5B2A-4E4A-A115-233D534535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427014-5993-4A33-B55B-45430C9B17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B62259-D14F-4F79-8235-C689E1171A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E29310-3158-43BD-B2FF-904B1BEB7D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191988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640080" y="4114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SAGE IV DRISM Meta-Filter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640080" y="10972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Diffractive optic: delivered design, validation, and expected camera 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640080" y="2377440"/>
            <a:ext cx="1051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Inversely designed pillar relief · 266 × 266 cells · ma-P 1275 photoresist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Validated against the proposed-work operating table (HySpec2: 200 µrad / 9.4 nm)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40080" y="60350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Richard G. Baird  ·  Hypercam project  ·  27 October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50292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F3864"/>
                </a:solidFill>
                <a:effectLst/>
                <a:uFillTx/>
                <a:latin typeface="Calibri"/>
              </a:rPr>
              <a:t>Executive Summary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548640" y="914400"/>
            <a:ext cx="2102760" cy="4392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720" rIns="90000" bIns="-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02920" y="64922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SAGE IV DRISM meta-filter · design validation report · October 2026   ·  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640080" y="1234440"/>
            <a:ext cx="109724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Delivered optic: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an aperiodic array of 70,756 polymer pillars (266 × 266 cells, 10.35 µm pitch, 2.75 mm square), heights 0.4 – 49.5 µm, etched in ma-P 1275 photoresist. Each pillar height is an independent design parameter; the array is neither periodic nor blazed.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Optical prescription: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DOE sits in the collimated beam; a Fourier lens (f = 55 mm, F/20, NA 0.025) turns every scene point into a wavelength-specific diffraction code on the 3296 × 2472 @ 5.5 µm reference detector.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Validated performance: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angular resolution 116 µrad and spectral resolution 5.7 nm (decorrelation half-widths) — both inside the HySpec2 requirement of 200 µrad / 9.4 nm.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Spectral channels: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all four design channels (386, 525, 600, 1020 nm at 15 nm FWHM) produce mutually uncorrelated codes (pairwise overlap ≤ 0.04), so each exposure carries independent spectral information.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Demonstrated end-to-end: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we synthesized the expected video from a real hyperspectral cube (400–700 nm, 151 bands) with the full physical model: measured material dispersion, Fraunhofer propagation, noiseless detector.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50292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F3864"/>
                </a:solidFill>
                <a:effectLst/>
                <a:uFillTx/>
                <a:latin typeface="Calibri"/>
              </a:rPr>
              <a:t>Instrument and Optical Prescription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548640" y="914400"/>
            <a:ext cx="2102760" cy="4392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720" rIns="90000" bIns="-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502920" y="64922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SAGE IV DRISM meta-filter · design validation report · October 2026   ·  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73" name="Picture 4" descr="optical_schematic.png"/>
          <p:cNvPicPr/>
          <p:nvPr/>
        </p:nvPicPr>
        <p:blipFill>
          <a:blip r:embed="rId1"/>
          <a:stretch/>
        </p:blipFill>
        <p:spPr>
          <a:xfrm>
            <a:off x="457200" y="1143000"/>
            <a:ext cx="7589160" cy="265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5"/>
          <p:cNvSpPr/>
          <p:nvPr/>
        </p:nvSpPr>
        <p:spPr>
          <a:xfrm>
            <a:off x="548640" y="58064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Collimated Fourier-plane layout: scene angle → plane-wave tilt at the DOE → lateral code shift f·θ on the FPA.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graphicFrame>
        <p:nvGraphicFramePr>
          <p:cNvPr id="75" name="Table 6"/>
          <p:cNvGraphicFramePr/>
          <p:nvPr/>
        </p:nvGraphicFramePr>
        <p:xfrm>
          <a:off x="8321040" y="1188720"/>
          <a:ext cx="3382920" cy="475452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</a:tblGrid>
              <a:tr h="52812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Parameter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Value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2812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Detector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3296 × 2472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2812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Pixel pitch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5.5 µm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2812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Field of view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1° circular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2812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Fourier lens f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55 mm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2812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Coherent width 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2.75 mm (F/20)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2812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Angular scale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100 µrad / px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2812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Speckle grain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11 µm = 2 px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2812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Scene footprint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175 px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50292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F3864"/>
                </a:solidFill>
                <a:effectLst/>
                <a:uFillTx/>
                <a:latin typeface="Calibri"/>
              </a:rPr>
              <a:t>The Delivered Diffractive Optic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548640" y="914400"/>
            <a:ext cx="2102760" cy="4392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720" rIns="90000" bIns="-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502920" y="64922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SAGE IV DRISM meta-filter · design validation report · October 2026   ·  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79" name="Picture 4" descr="doe_profile.png"/>
          <p:cNvPicPr/>
          <p:nvPr/>
        </p:nvPicPr>
        <p:blipFill>
          <a:blip r:embed="rId1"/>
          <a:stretch/>
        </p:blipFill>
        <p:spPr>
          <a:xfrm>
            <a:off x="457200" y="1188720"/>
            <a:ext cx="8412120" cy="350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5"/>
          <p:cNvSpPr/>
          <p:nvPr/>
        </p:nvSpPr>
        <p:spPr>
          <a:xfrm>
            <a:off x="9052560" y="1371600"/>
            <a:ext cx="28342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266² pillars, 10.35 µm pitch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heights 0.4–49.5 µm (≈ 60 waves at 400 nm)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aperiodic: one free height per cell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ma-P 1275 relief in air; substrate transmission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548640" y="603504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Fabrication note: peak aspect ratio ≈ 4.8. Confirm processability (HAR resist or etch transfer) before mask release.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50292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F3864"/>
                </a:solidFill>
                <a:effectLst/>
                <a:uFillTx/>
                <a:latin typeface="Calibri"/>
              </a:rPr>
              <a:t>The Optic as a Phase Mask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548640" y="914400"/>
            <a:ext cx="2102760" cy="4392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720" rIns="90000" bIns="-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502920" y="64922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SAGE IV DRISM meta-filter · design validation report · October 2026   ·  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85" name="Picture 4" descr="running-frog_phase_mask.png"/>
          <p:cNvPicPr/>
          <p:nvPr/>
        </p:nvPicPr>
        <p:blipFill>
          <a:blip r:embed="rId1"/>
          <a:stretch/>
        </p:blipFill>
        <p:spPr>
          <a:xfrm>
            <a:off x="502920" y="1143000"/>
            <a:ext cx="11155320" cy="479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5"/>
          <p:cNvSpPr/>
          <p:nvPr/>
        </p:nvSpPr>
        <p:spPr>
          <a:xfrm>
            <a:off x="548640" y="617220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Top: wrapped transmission phase at 400–700 nm — the fabrication-relevant view. Bottom: phase in waves. The relief reaches 80 waves at 400 nm and 40 at 700 nm; this 1/λ scaling, plus material dispersion, encodes the spectrum.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50292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F3864"/>
                </a:solidFill>
                <a:effectLst/>
                <a:uFillTx/>
                <a:latin typeface="Calibri"/>
              </a:rPr>
              <a:t>What Every Scene Point Becomes on the Sensor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548640" y="914400"/>
            <a:ext cx="2102760" cy="4392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720" rIns="90000" bIns="-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502920" y="64922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SAGE IV DRISM meta-filter · design validation report · October 2026   ·  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90" name="Picture 4" descr="fraunhofer_codes.png"/>
          <p:cNvPicPr/>
          <p:nvPr/>
        </p:nvPicPr>
        <p:blipFill>
          <a:blip r:embed="rId1"/>
          <a:stretch/>
        </p:blipFill>
        <p:spPr>
          <a:xfrm>
            <a:off x="502920" y="1188720"/>
            <a:ext cx="11155320" cy="490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5"/>
          <p:cNvSpPr/>
          <p:nvPr/>
        </p:nvSpPr>
        <p:spPr>
          <a:xfrm>
            <a:off x="548640" y="6080760"/>
            <a:ext cx="11155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Top: the point-spread code across the detector (square-root intensity — the code grows with wavelength because diffraction angles scale with λ). Bottom: 275 µm detail showing the 11 µm speckle grain. Each scene point becomes this pattern, shifted by f·θ; the layout changes completely between bands — the meta-filter's joint angular/spectral encoding.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50292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F3864"/>
                </a:solidFill>
                <a:effectLst/>
                <a:uFillTx/>
                <a:latin typeface="Calibri"/>
              </a:rPr>
              <a:t>Validation Method — What a Reconstruction Can Distinguish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548640" y="914400"/>
            <a:ext cx="2102760" cy="4392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720" rIns="90000" bIns="-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502920" y="64922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SAGE IV DRISM meta-filter · design validation report · October 2026   ·  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640080" y="1234440"/>
            <a:ext cx="109724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Operational criteria, not photon-limited bounds: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two points are resolvable when their codes decorrelate; the same test applies to two wavelengths. These thresholds hold for any exposure and any decoder.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Angular resolution: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half-width at half-maximum of the code autocorrelation, converted through f·θ.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Spectral resolution: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code overlap versus Δλ at 400 / 550 / 700 nm.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Pearson (mean-subtracted) overlap.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Independent speckle patterns share raw intensity overlap 0.5 exactly, because speckle intensity follows negative-exponential statistics. Subtracting each mean makes identical codes score 1 and independent codes score 0, so the 0.5 threshold means what it should.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Envelope normalization.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Every code carries the same smooth aperture envelope, which is deterministic and carries no information. We measure overlap on the speckle that remains after subtracting each code's blurred envelope.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Channel check: 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band-integrated codes for the four design channels (Gaussian FWHM 15 nm) must all decorrelate.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50292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F3864"/>
                </a:solidFill>
                <a:effectLst/>
                <a:uFillTx/>
                <a:latin typeface="Calibri"/>
              </a:rPr>
              <a:t>Validation Results — HySpec2 Requirement Met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548640" y="914400"/>
            <a:ext cx="2102760" cy="4392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720" rIns="90000" bIns="-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502920" y="64922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SAGE IV DRISM meta-filter · design validation report · October 2026   ·   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99" name="Picture 4" descr="validation.png"/>
          <p:cNvPicPr/>
          <p:nvPr/>
        </p:nvPicPr>
        <p:blipFill>
          <a:blip r:embed="rId1"/>
          <a:stretch/>
        </p:blipFill>
        <p:spPr>
          <a:xfrm>
            <a:off x="502920" y="1143000"/>
            <a:ext cx="11155320" cy="30675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00" name="Table 5"/>
          <p:cNvGraphicFramePr/>
          <p:nvPr/>
        </p:nvGraphicFramePr>
        <p:xfrm>
          <a:off x="640080" y="4434840"/>
          <a:ext cx="10881000" cy="1791000"/>
        </p:xfrm>
        <a:graphic>
          <a:graphicData uri="http://schemas.openxmlformats.org/drawingml/2006/table">
            <a:tbl>
              <a:tblPr/>
              <a:tblGrid>
                <a:gridCol w="2720160"/>
                <a:gridCol w="2720160"/>
                <a:gridCol w="2720160"/>
                <a:gridCol w="2720160"/>
              </a:tblGrid>
              <a:tr h="43416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Metric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Measured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HySpec2 spec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Verdict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43416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Angular resolution (HWHM)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116 µrad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≤ 200 µrad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416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Spectral resolution (half-width)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5.7 nm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≤ 9.4 nm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34160"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Closest channel pair (525/600 nm)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0.037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</a:rPr>
                        <a:t>&lt; 0.5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109440" marR="109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50292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F3864"/>
                </a:solidFill>
                <a:effectLst/>
                <a:uFillTx/>
                <a:latin typeface="Calibri"/>
              </a:rPr>
              <a:t>Scorecard Against the Proposed Operating Table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548640" y="914400"/>
            <a:ext cx="2102760" cy="4392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720" rIns="90000" bIns="-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502920" y="64922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SAGE IV DRISM meta-filter · design validation report · October 2026   ·  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104" name="Picture 4" descr="hyspec_scorecard.png"/>
          <p:cNvPicPr/>
          <p:nvPr/>
        </p:nvPicPr>
        <p:blipFill>
          <a:blip r:embed="rId1"/>
          <a:stretch/>
        </p:blipFill>
        <p:spPr>
          <a:xfrm>
            <a:off x="640080" y="1188720"/>
            <a:ext cx="7863480" cy="301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5"/>
          <p:cNvSpPr/>
          <p:nvPr/>
        </p:nvSpPr>
        <p:spPr>
          <a:xfrm>
            <a:off x="8686800" y="1371600"/>
            <a:ext cx="31086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HySpec2 (200 µrad / 9.4 nm): MET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on both axes.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HySpec3 (300 µrad / 4.2 nm):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angular met with 2.6× margin; spectral 5.7 vs 4.2 nm — reachable with a ~70 µm height budget.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HySpec1 (100 µrad / 38 nm):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spectral met with margin; angular needs a 5.5 mm coherent window (larger optic).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HySpec4 (9400 µrad / 2.3 nm):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spectral-limited; requires the taller relief as well.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50292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F3864"/>
                </a:solidFill>
                <a:effectLst/>
                <a:uFillTx/>
                <a:latin typeface="Calibri"/>
              </a:rPr>
              <a:t>Deliverables and Reproduction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7" name="Rectangle 2"/>
          <p:cNvSpPr/>
          <p:nvPr/>
        </p:nvSpPr>
        <p:spPr>
          <a:xfrm>
            <a:off x="548640" y="914400"/>
            <a:ext cx="2102760" cy="4392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720" rIns="90000" bIns="-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502920" y="64922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SAGE IV DRISM meta-filter · design validation report · October 2026   ·  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640080" y="1234440"/>
            <a:ext cx="109724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Optic definition: </a:t>
            </a: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data/nasa/profile_v2.mat — 266² heights (m), cell pitch, 2.753 mm aperture, f = 55 mm, F/20 metadata.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Validation report: </a:t>
            </a: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results/doe_synthetic_v2/validation/ (validation.png, validation.json) — reproduce with: synthesize_doe_video.py --validate --profile data/nasa/profile_v2.mat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Expected video: </a:t>
            </a: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results/doe_synthetic_v2/running-frog/running-frog_doe.mp4 (151 bands, 400–700 nm, 11 frames) — reproduce with: synthesize_doe_video.py --clip running-frog --profile data/nasa/profile_v2.mat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Forward model &amp; renderer: </a:t>
            </a: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src/scripts/synthesize_doe_video.py — Fraunhofer code stack, band-integrated exposure, design tables built in.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Design pipeline: </a:t>
            </a: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src/notebooks/coded_mask_drism.py — pillar parameterization, CRLB + channel-overlap objective (TOML-configurable for CHPC batches).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Material data: </a:t>
            </a: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data/nasa/mat_maP1275.xlsx — measured n(λ), k(λ); k &lt; 0.002 across 400–700 nm justifies the lossless-substrate assumption.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502920" y="2743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F3864"/>
                </a:solidFill>
                <a:effectLst/>
                <a:uFillTx/>
                <a:latin typeface="Calibri"/>
              </a:rPr>
              <a:t>Summary and Next Steps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548640" y="914400"/>
            <a:ext cx="2102760" cy="4392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720" rIns="90000" bIns="-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502920" y="64922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F7F7F"/>
                </a:solidFill>
                <a:effectLst/>
                <a:uFillTx/>
                <a:latin typeface="Calibri"/>
              </a:rPr>
              <a:t>SAGE IV DRISM meta-filter · design validation report · October 2026   ·  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640080" y="1325880"/>
            <a:ext cx="109724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Delivered and validated: 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pillar-relief DRISM meta-filter meets the HySpec2 operating point (116 µrad / 5.7 nm measured vs 200 µrad / 9.4 nm required) with all four spectral channels decorrelated (≤ 0.04).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Fabrication: 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confirm the 4.8 aspect-ratio pillar array in ma-P 1275 (or transfer to a harder resist / fused-silica etch) before mask release.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Reconstruction: 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decoder demultiplexes the coded exposures; the validated overlap metrics bound the achievable (x, y, λ) precision and set the decoder's design target.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•  Upgrade path: 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~70 µm height budget (same optics, retrain) reaches the HySpec3 column (300 µrad / 4.2 nm); a 5.5 mm coherent window reaches HySpec1.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LibreOffice/26.8.1.1$Linux_X86_64 LibreOffice_project/680$Build-1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2026-10-27T13:33:09Z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